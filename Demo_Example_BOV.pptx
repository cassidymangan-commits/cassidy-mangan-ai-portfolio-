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ubj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67052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BOV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DBEAFE"/>
                </a:solidFill>
                <a:latin typeface="Calibri"/>
              </a:rPr>
              <a:t>BROKER OPINION OF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457200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Subject Property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45720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2480 Distribution Way</a:t>
            </a:r>
          </a:p>
          <a:p>
            <a:r>
              <a:rPr sz="2000" b="1">
                <a:solidFill>
                  <a:srgbClr val="FFFFFF"/>
                </a:solidFill>
                <a:latin typeface="Calibri"/>
              </a:rPr>
              <a:t>Midwest Industrial 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45720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0" i="1">
                <a:solidFill>
                  <a:srgbClr val="DBEAFE"/>
                </a:solidFill>
                <a:latin typeface="Calibri"/>
              </a:rPr>
              <a:t>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035040"/>
            <a:ext cx="4389120" cy="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4572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DBEAFE"/>
                </a:solidFill>
                <a:latin typeface="Calibri"/>
              </a:rPr>
              <a:t>Industrial Real Estate  ·  Midwest Markets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73152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192024"/>
            <a:ext cx="146304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3968" y="118872"/>
            <a:ext cx="7315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BOV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6400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500" b="1" i="1">
                <a:solidFill>
                  <a:srgbClr val="1D4ED8"/>
                </a:solidFill>
                <a:latin typeface="Calibri"/>
              </a:rPr>
              <a:t>Situation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5836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0" i="0">
                <a:solidFill>
                  <a:srgbClr val="0F172A"/>
                </a:solidFill>
                <a:latin typeface="Calibri"/>
              </a:rPr>
              <a:t>The subject is a 285,000 SF Class A distribution facility on 12.5 acres in the primary industrial submarket, currently vacant following lease expiration in Q1 2026. Building features include 28 dock doors, 2 drive-in doors, ESFR sprinkler systems, and recent roof recoating supporting top-of-market pricing.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6400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500" b="1" i="1">
                <a:solidFill>
                  <a:srgbClr val="1D4ED8"/>
                </a:solidFill>
                <a:latin typeface="Calibri"/>
              </a:rPr>
              <a:t>Property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658368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86120"/>
            <a:ext cx="2743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86120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0" i="0">
                <a:solidFill>
                  <a:srgbClr val="0F172A"/>
                </a:solidFill>
                <a:latin typeface="Calibri"/>
              </a:rPr>
              <a:t>285,000 SF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30168"/>
            <a:ext cx="6583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70168"/>
            <a:ext cx="2743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Year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670168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0" i="0">
                <a:solidFill>
                  <a:srgbClr val="0F172A"/>
                </a:solidFill>
                <a:latin typeface="Calibri"/>
              </a:rPr>
              <a:t>2008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14216"/>
            <a:ext cx="658368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54216"/>
            <a:ext cx="2743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054216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0" i="0">
                <a:solidFill>
                  <a:srgbClr val="0F172A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98264"/>
            <a:ext cx="6583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38264"/>
            <a:ext cx="2743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Docks / Drive-ins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438264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0" i="0">
                <a:solidFill>
                  <a:srgbClr val="0F172A"/>
                </a:solidFill>
                <a:latin typeface="Calibri"/>
              </a:rPr>
              <a:t>28 /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82312"/>
            <a:ext cx="6583680" cy="38404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22312"/>
            <a:ext cx="2743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Land area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822312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0" i="0">
                <a:solidFill>
                  <a:srgbClr val="0F172A"/>
                </a:solidFill>
                <a:latin typeface="Calibri"/>
              </a:rPr>
              <a:t>12.5 acres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166360"/>
            <a:ext cx="6583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206360"/>
            <a:ext cx="2743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0B2A6B"/>
                </a:solidFill>
                <a:latin typeface="Calibri"/>
              </a:rPr>
              <a:t>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206360"/>
            <a:ext cx="3383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0" i="0">
                <a:solidFill>
                  <a:srgbClr val="0F172A"/>
                </a:solidFill>
                <a:latin typeface="Calibri"/>
              </a:rPr>
              <a:t>Vacant — Sale Valuation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914400"/>
            <a:ext cx="4023360" cy="49377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1188720"/>
            <a:ext cx="40233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DBEAFE"/>
                </a:solidFill>
                <a:latin typeface="Calibri"/>
              </a:rPr>
              <a:t>SUMMARY OF VALUE</a:t>
            </a:r>
          </a:p>
        </p:txBody>
      </p:sp>
      <p:sp>
        <p:nvSpPr>
          <p:cNvPr id="29" name="Oval 28"/>
          <p:cNvSpPr/>
          <p:nvPr/>
        </p:nvSpPr>
        <p:spPr>
          <a:xfrm>
            <a:off x="8595360" y="1828800"/>
            <a:ext cx="2377440" cy="237744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2520" y="1965960"/>
            <a:ext cx="2103120" cy="2103120"/>
          </a:xfrm>
          <a:prstGeom prst="ellipse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2606040"/>
            <a:ext cx="210312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$52 – $58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108960"/>
            <a:ext cx="21031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1" i="0">
                <a:solidFill>
                  <a:srgbClr val="DBEAFE"/>
                </a:solidFill>
                <a:latin typeface="Calibri"/>
              </a:rPr>
              <a:t>SALE PSF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663439"/>
            <a:ext cx="40233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$14.9M – $16.6M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074920"/>
            <a:ext cx="40233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1">
                <a:solidFill>
                  <a:srgbClr val="DBEAFE"/>
                </a:solidFill>
                <a:latin typeface="Calibri"/>
              </a:rPr>
              <a:t>Total transaction range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73152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Sale Comparables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192024"/>
            <a:ext cx="146304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3968" y="118872"/>
            <a:ext cx="7315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BOV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26974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2697480" cy="1463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377440"/>
            <a:ext cx="2697480" cy="45720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4231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1850 Logistics Blvd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926080"/>
            <a:ext cx="2478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297180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0" i="0">
                <a:solidFill>
                  <a:srgbClr val="0B2A6B"/>
                </a:solidFill>
                <a:latin typeface="Calibri"/>
              </a:rPr>
              <a:t>Aug 2024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29000"/>
            <a:ext cx="2478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347472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0" i="0">
                <a:solidFill>
                  <a:srgbClr val="0B2A6B"/>
                </a:solidFill>
                <a:latin typeface="Calibri"/>
              </a:rPr>
              <a:t>312K SF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931920"/>
            <a:ext cx="2478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397764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0" i="0">
                <a:solidFill>
                  <a:srgbClr val="0B2A6B"/>
                </a:solidFill>
                <a:latin typeface="Calibri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434840"/>
            <a:ext cx="2478024" cy="42976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8056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PSF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20" y="448056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1D4ED8"/>
                </a:solidFill>
                <a:latin typeface="Calibri"/>
              </a:rPr>
              <a:t>$54.25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937760"/>
            <a:ext cx="2478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8348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Built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498348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0" i="0">
                <a:solidFill>
                  <a:srgbClr val="0B2A6B"/>
                </a:solidFill>
                <a:latin typeface="Calibri"/>
              </a:rPr>
              <a:t>2015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0712" y="914400"/>
            <a:ext cx="26974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914400"/>
            <a:ext cx="2697480" cy="146304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3410712" y="2377440"/>
            <a:ext cx="2697480" cy="45720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2468880"/>
            <a:ext cx="24231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3220 Commerce Drive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2926080"/>
            <a:ext cx="2478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297180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297180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0" i="0">
                <a:solidFill>
                  <a:srgbClr val="0B2A6B"/>
                </a:solidFill>
                <a:latin typeface="Calibri"/>
              </a:rPr>
              <a:t>Mar 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3429000"/>
            <a:ext cx="2478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9312" y="347472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Size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347472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0" i="0">
                <a:solidFill>
                  <a:srgbClr val="0B2A6B"/>
                </a:solidFill>
                <a:latin typeface="Calibri"/>
              </a:rPr>
              <a:t>245K SF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3931920"/>
            <a:ext cx="2478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9312" y="397764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Class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397764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0" i="0">
                <a:solidFill>
                  <a:srgbClr val="0B2A6B"/>
                </a:solidFill>
                <a:latin typeface="Calibri"/>
              </a:rPr>
              <a:t>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4434840"/>
            <a:ext cx="2478024" cy="42976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39312" y="448056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PSF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36592" y="448056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1D4ED8"/>
                </a:solidFill>
                <a:latin typeface="Calibri"/>
              </a:rPr>
              <a:t>$58.10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4937760"/>
            <a:ext cx="2478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39312" y="498348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Built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36592" y="498348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0" i="0">
                <a:solidFill>
                  <a:srgbClr val="0B2A6B"/>
                </a:solidFill>
                <a:latin typeface="Calibri"/>
              </a:rPr>
              <a:t>2012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72784" y="914400"/>
            <a:ext cx="26974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914400"/>
            <a:ext cx="2697480" cy="146304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6272784" y="2377440"/>
            <a:ext cx="2697480" cy="45720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9944" y="2468880"/>
            <a:ext cx="24231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4170 Distribution 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82512" y="2926080"/>
            <a:ext cx="2478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01384" y="297180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98664" y="297180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0" i="0">
                <a:solidFill>
                  <a:srgbClr val="0B2A6B"/>
                </a:solidFill>
                <a:latin typeface="Calibri"/>
              </a:rPr>
              <a:t>Jun 2024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82512" y="3429000"/>
            <a:ext cx="2478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01384" y="347472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Size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98664" y="347472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0" i="0">
                <a:solidFill>
                  <a:srgbClr val="0B2A6B"/>
                </a:solidFill>
                <a:latin typeface="Calibri"/>
              </a:rPr>
              <a:t>295K SF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82512" y="3931920"/>
            <a:ext cx="2478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01384" y="397764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Class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98664" y="397764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0" i="0">
                <a:solidFill>
                  <a:srgbClr val="0B2A6B"/>
                </a:solidFill>
                <a:latin typeface="Calibri"/>
              </a:rPr>
              <a:t>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82512" y="4434840"/>
            <a:ext cx="2478024" cy="42976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01384" y="448056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PSF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98664" y="448056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1D4ED8"/>
                </a:solidFill>
                <a:latin typeface="Calibri"/>
              </a:rPr>
              <a:t>$52.40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82512" y="4937760"/>
            <a:ext cx="2478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01384" y="498348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Built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98664" y="498348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0" i="0">
                <a:solidFill>
                  <a:srgbClr val="0B2A6B"/>
                </a:solidFill>
                <a:latin typeface="Calibri"/>
              </a:rPr>
              <a:t>2018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34856" y="914400"/>
            <a:ext cx="269748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c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4856" y="914400"/>
            <a:ext cx="2697480" cy="1463040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9134856" y="2377440"/>
            <a:ext cx="2697480" cy="45720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72016" y="2468880"/>
            <a:ext cx="24231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Calibri"/>
              </a:rPr>
              <a:t>5610 Trade Center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44584" y="2926080"/>
            <a:ext cx="2478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63456" y="297180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Date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60736" y="297180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0" i="0">
                <a:solidFill>
                  <a:srgbClr val="0B2A6B"/>
                </a:solidFill>
                <a:latin typeface="Calibri"/>
              </a:rPr>
              <a:t>Nov 2024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44584" y="3429000"/>
            <a:ext cx="2478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363456" y="347472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Size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60736" y="347472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0" i="0">
                <a:solidFill>
                  <a:srgbClr val="0B2A6B"/>
                </a:solidFill>
                <a:latin typeface="Calibri"/>
              </a:rPr>
              <a:t>275K SF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44584" y="3931920"/>
            <a:ext cx="2478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363456" y="397764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Class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60736" y="397764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0" i="0">
                <a:solidFill>
                  <a:srgbClr val="0B2A6B"/>
                </a:solidFill>
                <a:latin typeface="Calibri"/>
              </a:rPr>
              <a:t>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44584" y="4434840"/>
            <a:ext cx="2478024" cy="42976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363456" y="448056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PSF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60736" y="448056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1D4ED8"/>
                </a:solidFill>
                <a:latin typeface="Calibri"/>
              </a:rPr>
              <a:t>$56.40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244584" y="4937760"/>
            <a:ext cx="247802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363456" y="4983480"/>
            <a:ext cx="10972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1" i="0">
                <a:solidFill>
                  <a:srgbClr val="64748B"/>
                </a:solidFill>
                <a:latin typeface="Calibri"/>
              </a:rPr>
              <a:t>Built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60736" y="4983480"/>
            <a:ext cx="11430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0" i="0">
                <a:solidFill>
                  <a:srgbClr val="0B2A6B"/>
                </a:solidFill>
                <a:latin typeface="Calibri"/>
              </a:rPr>
              <a:t>2010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0" i="1">
                <a:solidFill>
                  <a:srgbClr val="64748B"/>
                </a:solidFill>
                <a:latin typeface="Calibri"/>
              </a:rPr>
              <a:t>Subject: 2480 Distribution Way · 285,000 SF · Class A · 2008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"/>
            <a:ext cx="73152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Recommended List 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0" y="192024"/>
            <a:ext cx="146304" cy="14630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3968" y="118872"/>
            <a:ext cx="7315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BOV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0" i="1">
                <a:solidFill>
                  <a:srgbClr val="1D4ED8"/>
                </a:solidFill>
                <a:latin typeface="Calibri"/>
              </a:rPr>
              <a:t>285,000 SF on 12.5 acres  ·  Recommended range $52.40 – $58.10 PSF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325880"/>
            <a:ext cx="4389120" cy="841248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435608"/>
            <a:ext cx="3840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 i="0">
                <a:solidFill>
                  <a:srgbClr val="0B2A6B"/>
                </a:solidFill>
                <a:latin typeface="Calibri"/>
              </a:rPr>
              <a:t>$63.00 PSF · $17.96M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435608"/>
            <a:ext cx="3840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1">
                <a:solidFill>
                  <a:srgbClr val="0B2A6B"/>
                </a:solidFill>
                <a:latin typeface="Calibri"/>
              </a:rPr>
              <a:t>Speculative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783080"/>
            <a:ext cx="3840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1">
                <a:solidFill>
                  <a:srgbClr val="64748B"/>
                </a:solidFill>
                <a:latin typeface="Calibri"/>
              </a:rPr>
              <a:t>Test ask · single-user with submarket fit and urgent timeline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258568"/>
            <a:ext cx="5303520" cy="841248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368296"/>
            <a:ext cx="4754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 i="0">
                <a:solidFill>
                  <a:srgbClr val="0B2A6B"/>
                </a:solidFill>
                <a:latin typeface="Calibri"/>
              </a:rPr>
              <a:t>$60.50 PSF · $17.24M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368296"/>
            <a:ext cx="4754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1">
                <a:solidFill>
                  <a:srgbClr val="0B2A6B"/>
                </a:solidFill>
                <a:latin typeface="Calibri"/>
              </a:rPr>
              <a:t>Secondary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715768"/>
            <a:ext cx="47548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1">
                <a:solidFill>
                  <a:srgbClr val="0B2A6B"/>
                </a:solidFill>
                <a:latin typeface="Calibri"/>
              </a:rPr>
              <a:t>Achievable in multi-offer scenario or strategic adjacency premium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191256"/>
            <a:ext cx="6035040" cy="8412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300984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$58.50 PSF · $16.67M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00984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1">
                <a:solidFill>
                  <a:srgbClr val="FFFFFF"/>
                </a:solidFill>
                <a:latin typeface="Calibri"/>
              </a:rPr>
              <a:t>Ideal Alternative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648456"/>
            <a:ext cx="5486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1">
                <a:solidFill>
                  <a:srgbClr val="DBEAFE"/>
                </a:solidFill>
                <a:latin typeface="Calibri"/>
              </a:rPr>
              <a:t>Matches highest 2025 close in submarket — 3220 Commerce, $58.10 PSF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123944"/>
            <a:ext cx="6583680" cy="8412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233672"/>
            <a:ext cx="603504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$56.50 PSF · $16.10M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33672"/>
            <a:ext cx="603504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1">
                <a:solidFill>
                  <a:srgbClr val="FFFFFF"/>
                </a:solidFill>
                <a:latin typeface="Calibri"/>
              </a:rPr>
              <a:t>Ideal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81144"/>
            <a:ext cx="603504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1">
                <a:solidFill>
                  <a:srgbClr val="DBEAFE"/>
                </a:solidFill>
                <a:latin typeface="Calibri"/>
              </a:rPr>
              <a:t>Mid-range of approved Class A comps · expected outcome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56632"/>
            <a:ext cx="7132320" cy="841248"/>
          </a:xfrm>
          <a:prstGeom prst="rect">
            <a:avLst/>
          </a:prstGeom>
          <a:solidFill>
            <a:srgbClr val="0B2A6B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66360"/>
            <a:ext cx="65836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$55.00 PSF · $15.68M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66360"/>
            <a:ext cx="65836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1">
                <a:solidFill>
                  <a:srgbClr val="FFFFFF"/>
                </a:solidFill>
                <a:latin typeface="Calibri"/>
              </a:rPr>
              <a:t>Recommended 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13832"/>
            <a:ext cx="65836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0" i="1">
                <a:solidFill>
                  <a:srgbClr val="DBEAFE"/>
                </a:solidFill>
                <a:latin typeface="Calibri"/>
              </a:rPr>
              <a:t>Pulls broadest qualified buyer pool · drives competitive bids in 45–60 days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325880"/>
            <a:ext cx="3611880" cy="118872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1472184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DBEAFE"/>
                </a:solidFill>
                <a:latin typeface="Calibri"/>
              </a:rPr>
              <a:t>RECOMMENDED 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1746504"/>
            <a:ext cx="31546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$55.00 PSF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16712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100" b="0" i="1">
                <a:solidFill>
                  <a:srgbClr val="DBEAFE"/>
                </a:solidFill>
                <a:latin typeface="Calibri"/>
              </a:rPr>
              <a:t>$15.68M total transaction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2624328"/>
            <a:ext cx="3611880" cy="132588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2734056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Calibri"/>
              </a:rPr>
              <a:t>MARKET CONDITIONS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990088"/>
            <a:ext cx="32461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 b="0" i="0">
                <a:solidFill>
                  <a:srgbClr val="0B2A6B"/>
                </a:solidFill>
                <a:latin typeface="Calibri"/>
              </a:rPr>
              <a:t>· Cap rates 4.5–5.25% in primary submarket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282696"/>
            <a:ext cx="32461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 b="0" i="0">
                <a:solidFill>
                  <a:srgbClr val="0B2A6B"/>
                </a:solidFill>
                <a:latin typeface="Calibri"/>
              </a:rPr>
              <a:t>· Class A demand outpacing supply ~1.3×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3575304"/>
            <a:ext cx="32461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 b="0" i="0">
                <a:solidFill>
                  <a:srgbClr val="0B2A6B"/>
                </a:solidFill>
                <a:latin typeface="Calibri"/>
              </a:rPr>
              <a:t>· Strong 18-month lease velocity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059936"/>
            <a:ext cx="36118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4169664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Calibri"/>
              </a:rPr>
              <a:t>TARGET BUYER POOL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425696"/>
            <a:ext cx="32461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 b="0" i="0">
                <a:solidFill>
                  <a:srgbClr val="0B2A6B"/>
                </a:solidFill>
                <a:latin typeface="Calibri"/>
              </a:rPr>
              <a:t>· Institutional investors (REITs, funds)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718304"/>
            <a:ext cx="32461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 b="0" i="0">
                <a:solidFill>
                  <a:srgbClr val="0B2A6B"/>
                </a:solidFill>
                <a:latin typeface="Calibri"/>
              </a:rPr>
              <a:t>· Owner-users · 250–300K SF footprint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5010912"/>
            <a:ext cx="32461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 b="0" i="0">
                <a:solidFill>
                  <a:srgbClr val="0B2A6B"/>
                </a:solidFill>
                <a:latin typeface="Calibri"/>
              </a:rPr>
              <a:t>· 1031 exchange · high in current cycle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5495544"/>
            <a:ext cx="361188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5605272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 i="0">
                <a:solidFill>
                  <a:srgbClr val="1D4ED8"/>
                </a:solidFill>
                <a:latin typeface="Calibri"/>
              </a:rPr>
              <a:t>PROJECTED DAYS ON MARKET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5879592"/>
            <a:ext cx="155448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1D4ED8"/>
                </a:solidFill>
                <a:latin typeface="Calibri"/>
              </a:rPr>
              <a:t>45–60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6172200"/>
            <a:ext cx="15544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at recommended list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5879592"/>
            <a:ext cx="164592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0B2A6B"/>
                </a:solidFill>
                <a:latin typeface="Calibri"/>
              </a:rPr>
              <a:t>60–90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6172200"/>
            <a:ext cx="16459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1">
                <a:solidFill>
                  <a:srgbClr val="64748B"/>
                </a:solidFill>
                <a:latin typeface="Calibri"/>
              </a:rPr>
              <a:t>at high range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50" b="0" i="1">
                <a:solidFill>
                  <a:srgbClr val="64748B"/>
                </a:solidFill>
                <a:latin typeface="Calibri"/>
              </a:rPr>
              <a:t>Recommendation based on 4 approved Class A comps · primary + adjacent submarkets · vacant occupancy assumption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914400"/>
            <a:ext cx="3200400" cy="32004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"/>
            <a:ext cx="1371600" cy="1371600"/>
          </a:xfrm>
          <a:prstGeom prst="ellipse">
            <a:avLst/>
          </a:prstGeom>
          <a:noFill/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731520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6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200" b="1" i="0">
                <a:solidFill>
                  <a:srgbClr val="DBEAFE"/>
                </a:solidFill>
                <a:latin typeface="Calibri"/>
              </a:rPr>
              <a:t>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54864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Senior Broker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73152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300" b="0" i="0">
                <a:solidFill>
                  <a:srgbClr val="DBEAFE"/>
                </a:solidFill>
                <a:latin typeface="Calibri"/>
              </a:rPr>
              <a:t>Sr. Managing Director  ·  Industrial Specialist  ·  Direct line on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96012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b="0" i="1">
                <a:solidFill>
                  <a:srgbClr val="B8CCE0"/>
                </a:solidFill>
                <a:latin typeface="Calibri"/>
              </a:rPr>
              <a:t>Any opinion or estimate of value in this presentation is based on a high-level preliminary review. It is not the same as the opinion of value in an appraisal developed by a licensed appraiser under USPAP. No physical tour has been conducted; all information is based on public data. This valuation assumes no deferred maintenance or environmental conditions exist.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126480"/>
            <a:ext cx="201168" cy="2011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53328"/>
            <a:ext cx="1828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BOV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