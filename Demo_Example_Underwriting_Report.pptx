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8872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UNDERWRITE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Lease Underwriting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00" b="0" i="0">
                <a:solidFill>
                  <a:srgbClr val="DBEAFE"/>
                </a:solidFill>
                <a:latin typeface="Calibri"/>
              </a:rPr>
              <a:t>Executive Summary  ·  Page 1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68680"/>
            <a:ext cx="91440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828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972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0B2A6B"/>
                </a:solidFill>
                <a:latin typeface="Calibri"/>
              </a:rPr>
              <a:t>Scenario B (1450 Market Street) delivers the most favorable NPV at -$4.70M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Representing a PV savings of $2.50M vs Scenario C  ·  Average occupancy cost $33.50/SF/yr over 10.0-year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DEAL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24688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Calibri"/>
              </a:rPr>
              <a:t>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77440"/>
            <a:ext cx="24688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Calibri"/>
              </a:rPr>
              <a:t>Avg 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06040"/>
            <a:ext cx="24688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10.0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77440"/>
            <a:ext cx="24688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Calibri"/>
              </a:rPr>
              <a:t>RSF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606040"/>
            <a:ext cx="24688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18 – 22K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40"/>
            <a:ext cx="24688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64748B"/>
                </a:solidFill>
                <a:latin typeface="Calibri"/>
              </a:rPr>
              <a:t>Discount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06040"/>
            <a:ext cx="24688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10.0%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SCENARIO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1" i="0">
                <a:solidFill>
                  <a:srgbClr val="1D4ED8"/>
                </a:solidFill>
                <a:latin typeface="Calibri"/>
              </a:rPr>
              <a:t>Scenario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51960"/>
            <a:ext cx="3566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0B2A6B"/>
                </a:solidFill>
                <a:latin typeface="Calibri"/>
              </a:rPr>
              <a:t>Scenario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53712"/>
            <a:ext cx="35661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100 Riverside Plaza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NPV @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937760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-$5.80M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30368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Total cash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230368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-$8.20M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22976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Avg $/SF/yr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522976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$34.20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15584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Term · RSF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815584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10 yrs  ·  20,000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3721608"/>
            <a:ext cx="1280160" cy="2560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3739896"/>
            <a:ext cx="128016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★ RECOMMENDED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0233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1" i="0">
                <a:solidFill>
                  <a:srgbClr val="1D4ED8"/>
                </a:solidFill>
                <a:latin typeface="Calibri"/>
              </a:rPr>
              <a:t>Scenario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251960"/>
            <a:ext cx="3566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0B2A6B"/>
                </a:solidFill>
                <a:latin typeface="Calibri"/>
              </a:rPr>
              <a:t>Scenario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553712"/>
            <a:ext cx="35661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1450 Market Street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937760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NPV @ 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937760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1D4ED8"/>
                </a:solidFill>
                <a:latin typeface="Calibri"/>
              </a:rPr>
              <a:t>-$4.70M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230368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Total cash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230368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-$7.00M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522976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Avg $/SF/yr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22976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$33.50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815584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Term · RSF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815584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10 yrs  ·  18,000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384048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0233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1" i="0">
                <a:solidFill>
                  <a:srgbClr val="1D4ED8"/>
                </a:solidFill>
                <a:latin typeface="Calibri"/>
              </a:rPr>
              <a:t>Scenario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51960"/>
            <a:ext cx="3566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0B2A6B"/>
                </a:solidFill>
                <a:latin typeface="Calibri"/>
              </a:rPr>
              <a:t>Scenario 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553712"/>
            <a:ext cx="35661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Tower 8 Penthouse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937760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NPV @ 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937760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-$7.20M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230368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Total cash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5230368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-$10.90M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5522976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Avg $/SF/yr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5522976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$45.80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815584"/>
            <a:ext cx="1554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0">
                <a:solidFill>
                  <a:srgbClr val="64748B"/>
                </a:solidFill>
                <a:latin typeface="Calibri"/>
              </a:rPr>
              <a:t>Term · RSF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5815584"/>
            <a:ext cx="1737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50" b="1" i="0">
                <a:solidFill>
                  <a:srgbClr val="0B2A6B"/>
                </a:solidFill>
                <a:latin typeface="Calibri"/>
              </a:rPr>
              <a:t>10 yrs  ·  22,000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Prepared by [Broker]  ·  Confidential client deliverable  ·  Generated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8872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UNDERWRITE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Scenario A · Scenario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00" b="0" i="0">
                <a:solidFill>
                  <a:srgbClr val="DBEAFE"/>
                </a:solidFill>
                <a:latin typeface="Calibri"/>
              </a:rPr>
              <a:t>Page 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1">
                <a:solidFill>
                  <a:srgbClr val="64748B"/>
                </a:solidFill>
                <a:latin typeface="Calibri"/>
              </a:rPr>
              <a:t>100 Riverside 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NPV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-$5.80M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@ 10% discount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Total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-$8.20M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Pre-tax over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Avg $/SF/yr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$34.20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10.0-yr average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Net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Net of TI allowance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LEASE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4320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Commencement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2026-01-01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Expiration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2035-12-31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RSF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Lease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NNN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Starting 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$28.00 /SF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3.0%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Free 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None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TI Allowance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02336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ANNUAL NET CASH FLOW (PRE-TAX, $ in thousands)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5196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389120"/>
            <a:ext cx="11155680" cy="29260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443984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Year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443984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Rent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443984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OpEx + Tax + 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Capital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443984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0B2A6B"/>
                </a:solidFill>
                <a:latin typeface="Calibri"/>
              </a:rPr>
              <a:t>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68172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7228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47228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-$560K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7228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-$245K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7228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-$810K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49057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9057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-$577K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49057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-$252K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9057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-$834K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04748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0886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50886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-$594K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50886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-$260K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50886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-$859K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2715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2715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-$612K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52715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-$268K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2715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-$885K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41324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4543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4543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-$630K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54543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-$276K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54543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-$911K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56372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372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-$649K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0" y="56372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-$284K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56372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-$938K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77900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58201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8201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-$669K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58201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-$293K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58201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-$967K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" y="60030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60030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-$689K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0" y="60030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-$301K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60030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-$995K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614476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61859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61859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-$710K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61859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-$310K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61859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-$1.02M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4360" y="63687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20240" y="63687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-$731K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0480" y="63687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-$320K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08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63687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-$1.06M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" y="6560820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0240" y="6560820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-$6.42M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40480" y="6560820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-$2.81M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-$50K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6560820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DBEAFE"/>
                </a:solidFill>
                <a:latin typeface="Calibri"/>
              </a:rPr>
              <a:t>-$9.28M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8872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UNDERWRITE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Scenario B · Scenario B  ·  ★ RECOMMENDED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00" b="0" i="0">
                <a:solidFill>
                  <a:srgbClr val="DBEAFE"/>
                </a:solidFill>
                <a:latin typeface="Calibri"/>
              </a:rPr>
              <a:t>Page 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1">
                <a:solidFill>
                  <a:srgbClr val="64748B"/>
                </a:solidFill>
                <a:latin typeface="Calibri"/>
              </a:rPr>
              <a:t>1450 Market Street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0515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DBEAFE"/>
                </a:solidFill>
                <a:latin typeface="Calibri"/>
              </a:rPr>
              <a:t>NPV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-$4.70M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DBEAFE"/>
                </a:solidFill>
                <a:latin typeface="Calibri"/>
              </a:rPr>
              <a:t>@ 10% discount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Total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-$7.00M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Pre-tax over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Avg $/SF/yr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$33.50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10.0-yr average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Net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-$900K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Net of TI allowance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LEASE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4320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Commencement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2026-01-01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Expiration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2035-12-31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RSF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18,000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Lease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NNN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Starting 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$32.00 /SF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3.0%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Free 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6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TI Allowance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$50/SF · $900K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02336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ANNUAL NET CASH FLOW (PRE-TAX, $ in thousands)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5196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389120"/>
            <a:ext cx="11155680" cy="29260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443984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Year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443984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Rent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443984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OpEx + Tax + 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Capital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443984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0B2A6B"/>
                </a:solidFill>
                <a:latin typeface="Calibri"/>
              </a:rPr>
              <a:t>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68172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7228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47228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-$288K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7228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-$240K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-$900K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7228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-$1.45M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49057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9057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-$593K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49057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-$247K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9057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-$845K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04748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0886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50886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-$611K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50886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-$255K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50886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-$871K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2715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2715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-$629K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52715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-$262K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2715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-$896K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41324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4543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4543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-$648K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54543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-$270K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54543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-$923K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56372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372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-$667K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0" y="56372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-$278K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56372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-$950K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77900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58201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8201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-$687K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58201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-$287K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58201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-$979K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" y="60030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60030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-$708K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0" y="60030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-$295K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60030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-$1.01M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614476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61859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61859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-$729K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61859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-$304K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61859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-$1.04M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4360" y="63687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20240" y="63687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-$751K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0480" y="63687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-$313K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08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63687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-$1.07M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" y="6560820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0240" y="6560820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-$6.31M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40480" y="6560820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-$2.75M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-$900K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-$65K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6560820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DBEAFE"/>
                </a:solidFill>
                <a:latin typeface="Calibri"/>
              </a:rPr>
              <a:t>-$10.03M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8872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UNDERWRITE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Scenario C · Scenario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468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100" b="0" i="0">
                <a:solidFill>
                  <a:srgbClr val="DBEAFE"/>
                </a:solidFill>
                <a:latin typeface="Calibri"/>
              </a:rPr>
              <a:t>Page 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1">
                <a:solidFill>
                  <a:srgbClr val="64748B"/>
                </a:solidFill>
                <a:latin typeface="Calibri"/>
              </a:rPr>
              <a:t>Tower 8 Penthouse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NPV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-$7.20M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@ 10% discount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Total Cash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-$10.90M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Pre-tax over 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Avg $/SF/yr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$45.80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10.0-yr average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280160"/>
            <a:ext cx="2697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1732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Net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645920"/>
            <a:ext cx="2697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-$1.65M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057400"/>
            <a:ext cx="2697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Net of TI allowance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LEASE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4320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Commencement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2026-01-01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Expiration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2035-12-31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RSF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22,000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8036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Lease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08152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Modified Gross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Starting 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$42.00 /SF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2.75%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Free 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9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474720"/>
            <a:ext cx="26517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64748B"/>
                </a:solidFill>
                <a:latin typeface="Calibri"/>
              </a:rPr>
              <a:t>TI Allowance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675888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$75/SF · $1.65M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02336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ANNUAL NET CASH FLOW (PRE-TAX, $ in thousands)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51960"/>
            <a:ext cx="111556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389120"/>
            <a:ext cx="11155680" cy="29260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443984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1" i="0">
                <a:solidFill>
                  <a:srgbClr val="1D4ED8"/>
                </a:solidFill>
                <a:latin typeface="Calibri"/>
              </a:rPr>
              <a:t>Year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443984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Rent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443984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OpEx + Tax + 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Capital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443984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1D4ED8"/>
                </a:solidFill>
                <a:latin typeface="Calibri"/>
              </a:rPr>
              <a:t>Other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443984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50" b="1" i="0">
                <a:solidFill>
                  <a:srgbClr val="0B2A6B"/>
                </a:solidFill>
                <a:latin typeface="Calibri"/>
              </a:rPr>
              <a:t>Total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68172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7228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47228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-$693K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7228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-$88K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-$1.65M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7228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-$30K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7228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-$2.46M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49057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9057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-$950K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49057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-$91K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9057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9057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-$1.05M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04748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0886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50886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-$976K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50886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-$93K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886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50886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-$1.07M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2715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2715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-$1.00M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52715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-$96K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52715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2715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-$1.10M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41324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4543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4543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-$1.03M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54543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-$99K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54543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54543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-$1.14M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563727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3727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-$1.06M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0" y="563727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-$102K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563727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563727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-$1.17M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77900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4360" y="582015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82015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-$1.09M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582015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-$105K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582015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582015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-$1.20M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4360" y="600303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600303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-$1.12M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0" y="600303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-$108K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600303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600303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-$1.23M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6144768"/>
            <a:ext cx="11155680" cy="1828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618591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618591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-$1.15M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618591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-$111K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618591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618591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-$1.26M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4360" y="6368796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0">
                <a:solidFill>
                  <a:srgbClr val="0B2A6B"/>
                </a:solidFill>
                <a:latin typeface="Calibri"/>
              </a:rPr>
              <a:t>2035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20240" y="6368796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-$1.18M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0480" y="6368796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-$115K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08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9600" y="6368796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-$5K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6368796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900" b="1" i="0">
                <a:solidFill>
                  <a:srgbClr val="1D4ED8"/>
                </a:solidFill>
                <a:latin typeface="Calibri"/>
              </a:rPr>
              <a:t>-$1.30M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" y="6560820"/>
            <a:ext cx="12344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0240" y="6560820"/>
            <a:ext cx="178308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-$10.25M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40480" y="6560820"/>
            <a:ext cx="242316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-$1.01M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-$1.65M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0" y="6560820"/>
            <a:ext cx="16916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-$75K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6560820"/>
            <a:ext cx="1463040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1" i="0">
                <a:solidFill>
                  <a:srgbClr val="DBEAFE"/>
                </a:solidFill>
                <a:latin typeface="Calibri"/>
              </a:rPr>
              <a:t>-$12.98M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